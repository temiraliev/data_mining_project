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0" y="73152"/>
            <a:ext cx="2926080" cy="4997196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72200" y="73152"/>
            <a:ext cx="73152" cy="49971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Student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Georgia"/>
              </a:rPr>
              <a:t>Data Mining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Calibri"/>
              </a:rPr>
              <a:t>Kaggle Dataset · Python ·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188720"/>
            <a:ext cx="2286000" cy="41148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2252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K-Means Clustering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920240"/>
            <a:ext cx="2286000" cy="41148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568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651760"/>
            <a:ext cx="2286000" cy="41148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6883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383280"/>
            <a:ext cx="2286000" cy="41148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4198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EDA &amp;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8912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94A3B8"/>
                </a:solidFill>
                <a:latin typeface="Calibri"/>
              </a:rPr>
              <a:t>Data Mining · Final Project</a:t>
            </a:r>
            <a:r>
              <a:rPr lang="en-US" sz="1100" b="0" i="1" dirty="0">
                <a:solidFill>
                  <a:srgbClr val="94A3B8"/>
                </a:solidFill>
                <a:latin typeface="Calibri"/>
              </a:rPr>
              <a:t>                                 </a:t>
            </a:r>
            <a:r>
              <a:rPr lang="en-US" sz="1100" b="0" i="1" dirty="0" err="1">
                <a:solidFill>
                  <a:srgbClr val="94A3B8"/>
                </a:solidFill>
                <a:latin typeface="Calibri"/>
              </a:rPr>
              <a:t>Baitur</a:t>
            </a:r>
            <a:r>
              <a:rPr lang="en-US" sz="11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lang="en-US" sz="1100" b="0" i="1" dirty="0" err="1">
                <a:solidFill>
                  <a:srgbClr val="94A3B8"/>
                </a:solidFill>
                <a:latin typeface="Calibri"/>
              </a:rPr>
              <a:t>Temiraliev</a:t>
            </a:r>
            <a:endParaRPr sz="1100" b="0" i="1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Students Performance Dataset —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51760" cy="123444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6400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Georgia"/>
              </a:rPr>
              <a:t>5,000+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Student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651760" cy="123444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6400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1887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Georgia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55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Features / 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2651760" cy="123444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6400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55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Grade Categories (A–F)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Attendance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6382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Midterm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Final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22191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Assignments Avg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5137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Quizzes Avg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Participation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8346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Study Hours/Week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163824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Sleep Hours/Night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49300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Stress Level (1–10)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822191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Family Income 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151376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Parent Education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48056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•  Extracurriculars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4023360" cy="11430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75488" cy="114300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875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Data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533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Dropped non-predictive columns (ID, Names, Email)
Reduced from 22 → 18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914400"/>
            <a:ext cx="4023360" cy="11430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914400"/>
            <a:ext cx="475488" cy="114300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23444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9875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3533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Label encoding for categorical variables
Train/test split: 80% / 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4023360" cy="11430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475488" cy="114300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56032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134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67919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Grade distribution, correlation heatmap
Study hours vs. total score scatter plot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240280"/>
            <a:ext cx="4023360" cy="11430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46320" y="2240280"/>
            <a:ext cx="475488" cy="114300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256032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3134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67919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K-Means (k=3): High, Medium, Low achievers
Based on study hours &amp; total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429000"/>
            <a:ext cx="4023360" cy="11430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31920" y="3429000"/>
            <a:ext cx="475488" cy="1143000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3749039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5021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38679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Random Forest Classifier to predict Grade (A–F)
Feature importance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Uncovering patterns before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931920" cy="2560320"/>
          </a:xfrm>
          <a:prstGeom prst="rect">
            <a:avLst/>
          </a:prstGeom>
          <a:solidFill>
            <a:srgbClr val="1A2E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148839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 dirty="0">
                <a:solidFill>
                  <a:srgbClr val="94A3B8"/>
                </a:solidFill>
                <a:latin typeface="Calibri"/>
              </a:rPr>
              <a:t>[ Grade Distribution Chart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51560"/>
            <a:ext cx="3931920" cy="2560320"/>
          </a:xfrm>
          <a:prstGeom prst="rect">
            <a:avLst/>
          </a:prstGeom>
          <a:solidFill>
            <a:srgbClr val="1A2E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2148839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94A3B8"/>
                </a:solidFill>
                <a:latin typeface="Calibri"/>
              </a:rPr>
              <a:t>[ Correlation Heatmap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39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Grade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639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Feature Correlation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3977639"/>
            <a:ext cx="4846320" cy="914400"/>
          </a:xfrm>
          <a:prstGeom prst="rect">
            <a:avLst/>
          </a:prstGeom>
          <a:solidFill>
            <a:srgbClr val="1A2E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8840" y="425195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94A3B8"/>
                </a:solidFill>
                <a:latin typeface="Calibri"/>
              </a:rPr>
              <a:t>[ Study Hours vs. Total Score Scatter Plot ]</a:t>
            </a:r>
          </a:p>
        </p:txBody>
      </p:sp>
      <p:pic>
        <p:nvPicPr>
          <p:cNvPr id="15" name="Picture 14" descr="A graph of a number of students&#10;&#10;Description automatically generated">
            <a:extLst>
              <a:ext uri="{FF2B5EF4-FFF2-40B4-BE49-F238E27FC236}">
                <a16:creationId xmlns:a16="http://schemas.microsoft.com/office/drawing/2014/main" id="{C4C4EB83-3BC8-40AF-FE4B-3E1BB12F0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73" y="963928"/>
            <a:ext cx="4116094" cy="2732533"/>
          </a:xfrm>
          <a:prstGeom prst="rect">
            <a:avLst/>
          </a:prstGeom>
        </p:spPr>
      </p:pic>
      <p:pic>
        <p:nvPicPr>
          <p:cNvPr id="17" name="Picture 16" descr="A screen shot of a graph&#10;&#10;Description automatically generated">
            <a:extLst>
              <a:ext uri="{FF2B5EF4-FFF2-40B4-BE49-F238E27FC236}">
                <a16:creationId xmlns:a16="http://schemas.microsoft.com/office/drawing/2014/main" id="{FB1419BE-6D7E-3FF3-2543-9E150AA63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957667"/>
            <a:ext cx="4058118" cy="2681645"/>
          </a:xfrm>
          <a:prstGeom prst="rect">
            <a:avLst/>
          </a:prstGeom>
        </p:spPr>
      </p:pic>
      <p:pic>
        <p:nvPicPr>
          <p:cNvPr id="19" name="Picture 18" descr="A chart of a graph&#10;&#10;Description automatically generated with medium confidence">
            <a:extLst>
              <a:ext uri="{FF2B5EF4-FFF2-40B4-BE49-F238E27FC236}">
                <a16:creationId xmlns:a16="http://schemas.microsoft.com/office/drawing/2014/main" id="{AF0D57B7-216E-7260-6FDF-F47507A3D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39" y="3865459"/>
            <a:ext cx="4846319" cy="1152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Unsupervised segmentation of student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3200400"/>
          </a:xfrm>
          <a:prstGeom prst="rect">
            <a:avLst/>
          </a:prstGeom>
          <a:solidFill>
            <a:srgbClr val="1A2E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94A3B8"/>
                </a:solidFill>
                <a:latin typeface="Calibri"/>
              </a:rPr>
              <a:t>[ K-Means Cluster Plot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005840"/>
            <a:ext cx="3383280" cy="9144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94960" y="100584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10789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Cluster 0 — High Achievers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481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High study hours, top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084832"/>
            <a:ext cx="3383280" cy="9144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94960" y="2084832"/>
            <a:ext cx="64008" cy="914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120" y="21579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Cluster 1 — Medium Performers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60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Average effort, mid-range scores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163824"/>
            <a:ext cx="3383280" cy="91440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94960" y="3163824"/>
            <a:ext cx="64008" cy="914400"/>
          </a:xfrm>
          <a:prstGeom prst="rect">
            <a:avLst/>
          </a:prstGeom>
          <a:solidFill>
            <a:srgbClr val="F2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32120" y="323697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Cluster 2 — Low Performers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6393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Low study hours, lower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k = 3  ·  Features: Study Hours &amp; Total Score  ·  StandardScaler applied</a:t>
            </a:r>
          </a:p>
        </p:txBody>
      </p:sp>
      <p:pic>
        <p:nvPicPr>
          <p:cNvPr id="22" name="Picture 21" descr="A chart of a cluster of dots&#10;&#10;Description automatically generated with medium confidence">
            <a:extLst>
              <a:ext uri="{FF2B5EF4-FFF2-40B4-BE49-F238E27FC236}">
                <a16:creationId xmlns:a16="http://schemas.microsoft.com/office/drawing/2014/main" id="{F9CDA189-7610-D434-D1E5-9C8E13144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19926"/>
            <a:ext cx="4754880" cy="32137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Classification &amp;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Predicting student outcomes with ML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931920" cy="1097280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R²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Georgia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234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Linear Regression on Total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3840480" cy="2514600"/>
          </a:xfrm>
          <a:prstGeom prst="rect">
            <a:avLst/>
          </a:prstGeom>
          <a:solidFill>
            <a:srgbClr val="1A2E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40613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94A3B8"/>
                </a:solidFill>
                <a:latin typeface="Calibri"/>
              </a:rPr>
              <a:t>[ Actual vs. Predicted Total Score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463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Actual vs. Predicted</a:t>
            </a:r>
          </a:p>
        </p:txBody>
      </p:sp>
      <p:pic>
        <p:nvPicPr>
          <p:cNvPr id="23" name="Picture 22" descr="A graph of a performance&#10;&#10;Description automatically generated">
            <a:extLst>
              <a:ext uri="{FF2B5EF4-FFF2-40B4-BE49-F238E27FC236}">
                <a16:creationId xmlns:a16="http://schemas.microsoft.com/office/drawing/2014/main" id="{18CF72BE-18E9-16B9-5219-F5A7C241C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92218"/>
            <a:ext cx="3924300" cy="2549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069080" cy="1170432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1316736"/>
            <a:ext cx="292608" cy="29260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05156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Attendance &amp; Study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43560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Strongest predictors of final grade across all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960120"/>
            <a:ext cx="4069080" cy="1170432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937760" y="1316736"/>
            <a:ext cx="292608" cy="292608"/>
          </a:xfrm>
          <a:prstGeom prst="ellipse">
            <a:avLst/>
          </a:prstGeom>
          <a:solidFill>
            <a:srgbClr val="6C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0952" y="105156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3 Distinct Student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143560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K-Means revealed clear High / Medium / Low performer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4069080" cy="1170432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02920" y="2642616"/>
            <a:ext cx="292608" cy="29260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37744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Reliable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6148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Linear Regression achieved a high R² on the test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286000"/>
            <a:ext cx="4069080" cy="1170432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37760" y="2642616"/>
            <a:ext cx="292608" cy="292608"/>
          </a:xfrm>
          <a:prstGeom prst="ellipse">
            <a:avLst/>
          </a:prstGeom>
          <a:solidFill>
            <a:srgbClr val="8BE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0952" y="237744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Lifestyle Factors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76148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Stress level &amp; sleep hours show measurable impact on scores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4069080" cy="1170432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FF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70332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Dimensionality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08736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Dropping 4 ID columns improved model clarity and efficiency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611880"/>
            <a:ext cx="4069080" cy="1170432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937760" y="3968496"/>
            <a:ext cx="292608" cy="292608"/>
          </a:xfrm>
          <a:prstGeom prst="ellipse">
            <a:avLst/>
          </a:prstGeom>
          <a:solidFill>
            <a:srgbClr val="C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2" y="370332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Department Variation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408736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Performance gaps exist across Engineering, CS, and Business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73152"/>
            <a:ext cx="2743200" cy="4997196"/>
          </a:xfrm>
          <a:prstGeom prst="rect">
            <a:avLst/>
          </a:prstGeom>
          <a:solidFill>
            <a:srgbClr val="07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55080" y="73152"/>
            <a:ext cx="73152" cy="49971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This project demonstrated how data mining
techniques can reveal actionable insights
from student academic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✓  K-Means → 3 clear student behavior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✓  Linear Regression → accurate score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✓  Top factors: Attendance, Study Hours, Stress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Data Mining · 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731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Georgia"/>
              </a:rPr>
              <a:t>Tools &amp;
Technologies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508760"/>
            <a:ext cx="23774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536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130552"/>
            <a:ext cx="23774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1579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Pandas / NumPy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752344"/>
            <a:ext cx="23774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7797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374136"/>
            <a:ext cx="23774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4015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Seaborn / Matplotlib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995928"/>
            <a:ext cx="23774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Kaggle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445</Words>
  <Application>Microsoft Macintosh PowerPoint</Application>
  <PresentationFormat>On-screen Show (16:9)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Baitur Temiraliev</cp:lastModifiedBy>
  <cp:revision>2</cp:revision>
  <dcterms:created xsi:type="dcterms:W3CDTF">2013-01-27T09:14:16Z</dcterms:created>
  <dcterms:modified xsi:type="dcterms:W3CDTF">2026-03-19T08:56:56Z</dcterms:modified>
  <cp:category/>
</cp:coreProperties>
</file>